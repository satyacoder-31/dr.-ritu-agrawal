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6" r:id="rId3"/>
    <p:sldId id="261" r:id="rId4"/>
    <p:sldId id="263" r:id="rId5"/>
    <p:sldId id="265" r:id="rId6"/>
    <p:sldId id="264" r:id="rId7"/>
    <p:sldId id="260" r:id="rId8"/>
    <p:sldId id="262" r:id="rId9"/>
    <p:sldId id="267" r:id="rId10"/>
    <p:sldId id="268" r:id="rId11"/>
    <p:sldId id="270" r:id="rId12"/>
    <p:sldId id="271" r:id="rId13"/>
    <p:sldId id="272" r:id="rId14"/>
    <p:sldId id="273" r:id="rId15"/>
    <p:sldId id="274" r:id="rId16"/>
    <p:sldId id="275" r:id="rId17"/>
    <p:sldId id="276" r:id="rId18"/>
    <p:sldId id="277" r:id="rId19"/>
    <p:sldId id="278" r:id="rId20"/>
    <p:sldId id="279" r:id="rId21"/>
    <p:sldId id="281" r:id="rId22"/>
    <p:sldId id="282" r:id="rId23"/>
    <p:sldId id="283" r:id="rId24"/>
    <p:sldId id="284" r:id="rId25"/>
    <p:sldId id="285" r:id="rId26"/>
    <p:sldId id="286" r:id="rId27"/>
    <p:sldId id="287" r:id="rId28"/>
    <p:sldId id="28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B29C5C69-C65E-4D6A-9E78-152DE2AE288A}" type="datetimeFigureOut">
              <a:rPr lang="en-IN" smtClean="0"/>
              <a:t>22-08-2026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4244291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29C5C69-C65E-4D6A-9E78-152DE2AE288A}" type="datetimeFigureOut">
              <a:rPr lang="en-IN" smtClean="0"/>
              <a:t>22-08-2026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3798466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29C5C69-C65E-4D6A-9E78-152DE2AE288A}" type="datetimeFigureOut">
              <a:rPr lang="en-IN" smtClean="0"/>
              <a:t>22-08-2026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637651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29C5C69-C65E-4D6A-9E78-152DE2AE288A}" type="datetimeFigureOut">
              <a:rPr lang="en-IN" smtClean="0"/>
              <a:t>22-08-2026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2774937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B29C5C69-C65E-4D6A-9E78-152DE2AE288A}" type="datetimeFigureOut">
              <a:rPr lang="en-IN" smtClean="0"/>
              <a:t>22-08-2026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2021794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29C5C69-C65E-4D6A-9E78-152DE2AE288A}" type="datetimeFigureOut">
              <a:rPr lang="en-IN" smtClean="0"/>
              <a:t>22-08-2026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1665564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9C5C69-C65E-4D6A-9E78-152DE2AE288A}" type="datetimeFigureOut">
              <a:rPr lang="en-IN" smtClean="0"/>
              <a:t>22-08-2026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1898688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9C5C69-C65E-4D6A-9E78-152DE2AE288A}" type="datetimeFigureOut">
              <a:rPr lang="en-IN" smtClean="0"/>
              <a:t>22-08-2026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2013397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9C5C69-C65E-4D6A-9E78-152DE2AE288A}" type="datetimeFigureOut">
              <a:rPr lang="en-IN" smtClean="0"/>
              <a:t>22-08-2026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1435171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29C5C69-C65E-4D6A-9E78-152DE2AE288A}" type="datetimeFigureOut">
              <a:rPr lang="en-IN" smtClean="0"/>
              <a:t>22-08-2026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2620214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B29C5C69-C65E-4D6A-9E78-152DE2AE288A}" type="datetimeFigureOut">
              <a:rPr lang="en-IN" smtClean="0"/>
              <a:t>22-08-2026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64A0B0-BE2E-4EE9-A6B0-80B4BDCC59DB}" type="slidenum">
              <a:rPr lang="en-IN" smtClean="0"/>
              <a:t>‹#›</a:t>
            </a:fld>
            <a:endParaRPr lang="en-IN"/>
          </a:p>
        </p:txBody>
      </p:sp>
    </p:spTree>
    <p:extLst>
      <p:ext uri="{BB962C8B-B14F-4D97-AF65-F5344CB8AC3E}">
        <p14:creationId xmlns:p14="http://schemas.microsoft.com/office/powerpoint/2010/main" val="359291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9C5C69-C65E-4D6A-9E78-152DE2AE288A}" type="datetimeFigureOut">
              <a:rPr lang="en-IN" smtClean="0"/>
              <a:t>22-08-2026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64A0B0-BE2E-4EE9-A6B0-80B4BDCC59DB}" type="slidenum">
              <a:rPr lang="en-IN" smtClean="0"/>
              <a:t>‹#›</a:t>
            </a:fld>
            <a:endParaRPr lang="en-IN"/>
          </a:p>
        </p:txBody>
      </p:sp>
    </p:spTree>
    <p:extLst>
      <p:ext uri="{BB962C8B-B14F-4D97-AF65-F5344CB8AC3E}">
        <p14:creationId xmlns:p14="http://schemas.microsoft.com/office/powerpoint/2010/main" val="169789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825625"/>
            <a:ext cx="6421582" cy="4351338"/>
          </a:xfrm>
        </p:spPr>
        <p:txBody>
          <a:bodyPr/>
          <a:lstStyle/>
          <a:p>
            <a:pPr marL="0" indent="0">
              <a:buNone/>
            </a:pPr>
            <a:r>
              <a:rPr lang="en-IN" sz="4400" b="1" dirty="0" err="1"/>
              <a:t>Dr.</a:t>
            </a:r>
            <a:r>
              <a:rPr lang="en-IN" sz="4400" b="1" dirty="0"/>
              <a:t> </a:t>
            </a:r>
            <a:r>
              <a:rPr lang="en-IN" sz="4400" b="1" dirty="0" err="1"/>
              <a:t>Ritu</a:t>
            </a:r>
            <a:r>
              <a:rPr lang="en-IN" sz="4400" b="1" dirty="0"/>
              <a:t> Agarwal</a:t>
            </a:r>
          </a:p>
          <a:p>
            <a:pPr marL="0" indent="0">
              <a:buNone/>
            </a:pPr>
            <a:r>
              <a:rPr lang="en-IN" sz="4400" b="1" dirty="0" smtClean="0"/>
              <a:t>Senior Consultant </a:t>
            </a:r>
            <a:r>
              <a:rPr lang="en-IN" sz="4400" b="1" dirty="0"/>
              <a:t>Obstetrics &amp; Gynaecology</a:t>
            </a:r>
          </a:p>
          <a:p>
            <a:pPr marL="0" indent="0">
              <a:buNone/>
            </a:pPr>
            <a:r>
              <a:rPr lang="en-IN" sz="4400" dirty="0"/>
              <a:t>MBBS | M.D | DGO</a:t>
            </a:r>
          </a:p>
          <a:p>
            <a:endParaRPr lang="en-IN" dirty="0"/>
          </a:p>
        </p:txBody>
      </p:sp>
      <p:pic>
        <p:nvPicPr>
          <p:cNvPr id="4" name="Picture 4" descr="Image result for cartoon gynecolog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9782" y="1018742"/>
            <a:ext cx="4402464" cy="5158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014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solidFill>
                  <a:srgbClr val="FF0000"/>
                </a:solidFill>
                <a:latin typeface="Agency FB" pitchFamily="34" charset="0"/>
              </a:rPr>
              <a:t>MISSION</a:t>
            </a:r>
            <a:endParaRPr lang="en-IN" dirty="0"/>
          </a:p>
        </p:txBody>
      </p:sp>
      <p:sp>
        <p:nvSpPr>
          <p:cNvPr id="3" name="Content Placeholder 2"/>
          <p:cNvSpPr>
            <a:spLocks noGrp="1"/>
          </p:cNvSpPr>
          <p:nvPr>
            <p:ph idx="1"/>
          </p:nvPr>
        </p:nvSpPr>
        <p:spPr>
          <a:xfrm>
            <a:off x="838200" y="1825625"/>
            <a:ext cx="10515600" cy="1998230"/>
          </a:xfrm>
        </p:spPr>
        <p:txBody>
          <a:bodyPr>
            <a:noAutofit/>
          </a:bodyPr>
          <a:lstStyle/>
          <a:p>
            <a:pPr marL="0" indent="0">
              <a:buNone/>
            </a:pPr>
            <a:r>
              <a:rPr lang="en-US" sz="3600" i="1" dirty="0">
                <a:latin typeface="Agency FB" pitchFamily="34" charset="0"/>
              </a:rPr>
              <a:t>Aims to deliver the highest quality of care to patients with obstetrics &amp;  gynecological problems.​ This entails the application of the latest advances in the field , for diagnosis and treatment of  patients, in atmosphere of compassion and respect .Thus aims to deliver highest quality of clinical expertise with a passion to serve.</a:t>
            </a:r>
          </a:p>
          <a:p>
            <a:pPr marL="0" indent="0">
              <a:buNone/>
            </a:pPr>
            <a:endParaRPr lang="en-IN" sz="3600" dirty="0"/>
          </a:p>
        </p:txBody>
      </p:sp>
    </p:spTree>
    <p:extLst>
      <p:ext uri="{BB962C8B-B14F-4D97-AF65-F5344CB8AC3E}">
        <p14:creationId xmlns:p14="http://schemas.microsoft.com/office/powerpoint/2010/main" val="2591913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err="1" smtClean="0"/>
              <a:t>Dr.</a:t>
            </a:r>
            <a:r>
              <a:rPr lang="en-GB" dirty="0" smtClean="0"/>
              <a:t> </a:t>
            </a:r>
            <a:r>
              <a:rPr lang="en-GB" dirty="0" err="1" smtClean="0"/>
              <a:t>Ritu</a:t>
            </a:r>
            <a:r>
              <a:rPr lang="en-GB" dirty="0" smtClean="0"/>
              <a:t> Agarwal is a Gynaecologist, Obstetrician and Laparoscopic surgeon and infertility specialist. </a:t>
            </a:r>
            <a:br>
              <a:rPr lang="en-GB" dirty="0" smtClean="0"/>
            </a:br>
            <a:endParaRPr lang="en-IN" dirty="0"/>
          </a:p>
        </p:txBody>
      </p:sp>
      <p:sp>
        <p:nvSpPr>
          <p:cNvPr id="3" name="Content Placeholder 2"/>
          <p:cNvSpPr>
            <a:spLocks noGrp="1"/>
          </p:cNvSpPr>
          <p:nvPr>
            <p:ph idx="1"/>
          </p:nvPr>
        </p:nvSpPr>
        <p:spPr/>
        <p:txBody>
          <a:bodyPr>
            <a:normAutofit/>
          </a:bodyPr>
          <a:lstStyle/>
          <a:p>
            <a:pPr marL="0" indent="0">
              <a:buNone/>
            </a:pPr>
            <a:r>
              <a:rPr lang="en-GB" dirty="0"/>
              <a:t>She has completed her MBBS and MD in Obstetrics &amp; Gynaecology from the Institute of Medical Sciences (IMS), Banaras Hindu University (BHU). Trained under renowned stalwarts in the field, she has extensive experience in managing high-risk obstetric cases and complex gynaecological conditions. With in-depth knowledge and expertise in her specialty, she brings nearly 28 years of clinical experience in Obstetrics and Gynaecology.</a:t>
            </a:r>
            <a:endParaRPr lang="en-IN" dirty="0"/>
          </a:p>
        </p:txBody>
      </p:sp>
    </p:spTree>
    <p:extLst>
      <p:ext uri="{BB962C8B-B14F-4D97-AF65-F5344CB8AC3E}">
        <p14:creationId xmlns:p14="http://schemas.microsoft.com/office/powerpoint/2010/main" val="1906851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marL="0" indent="0">
              <a:buNone/>
            </a:pPr>
            <a:r>
              <a:rPr lang="en-GB" b="1" dirty="0"/>
              <a:t>Compassionate Care. Extensive Experience. Personalised Treatment.</a:t>
            </a:r>
          </a:p>
          <a:p>
            <a:pPr marL="0" indent="0">
              <a:buNone/>
            </a:pPr>
            <a:r>
              <a:rPr lang="en-GB" dirty="0"/>
              <a:t>With over </a:t>
            </a:r>
            <a:r>
              <a:rPr lang="en-GB" b="1" dirty="0"/>
              <a:t>28 years of experience in women’s healthcare</a:t>
            </a:r>
            <a:r>
              <a:rPr lang="en-GB" dirty="0"/>
              <a:t>, </a:t>
            </a:r>
            <a:r>
              <a:rPr lang="en-GB" dirty="0" err="1"/>
              <a:t>Dr.</a:t>
            </a:r>
            <a:r>
              <a:rPr lang="en-GB" dirty="0"/>
              <a:t> </a:t>
            </a:r>
            <a:r>
              <a:rPr lang="en-GB" dirty="0" err="1"/>
              <a:t>Ritu</a:t>
            </a:r>
            <a:r>
              <a:rPr lang="en-GB" dirty="0"/>
              <a:t> Agrawal combines extensive clinical expertise with a compassionate, individualised approach to care. She is committed to helping women make informed decisions about their </a:t>
            </a:r>
            <a:r>
              <a:rPr lang="en-GB" b="1" dirty="0"/>
              <a:t>reproductive, obstetric, and gynaecological health</a:t>
            </a:r>
            <a:r>
              <a:rPr lang="en-GB" dirty="0"/>
              <a:t>, while ensuring personalised treatment tailored to their unique needs.</a:t>
            </a:r>
          </a:p>
          <a:p>
            <a:endParaRPr lang="en-IN" dirty="0"/>
          </a:p>
        </p:txBody>
      </p:sp>
    </p:spTree>
    <p:extLst>
      <p:ext uri="{BB962C8B-B14F-4D97-AF65-F5344CB8AC3E}">
        <p14:creationId xmlns:p14="http://schemas.microsoft.com/office/powerpoint/2010/main" val="3627731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993582" cy="1325563"/>
          </a:xfrm>
        </p:spPr>
        <p:txBody>
          <a:bodyPr>
            <a:normAutofit fontScale="90000"/>
          </a:bodyPr>
          <a:lstStyle/>
          <a:p>
            <a:r>
              <a:rPr lang="en-GB" b="1" dirty="0"/>
              <a:t>About </a:t>
            </a:r>
            <a:r>
              <a:rPr lang="en-GB" b="1" dirty="0" err="1"/>
              <a:t>Dr.</a:t>
            </a:r>
            <a:r>
              <a:rPr lang="en-GB" b="1" dirty="0"/>
              <a:t> </a:t>
            </a:r>
            <a:r>
              <a:rPr lang="en-GB" b="1" dirty="0" err="1"/>
              <a:t>Ritu</a:t>
            </a:r>
            <a:r>
              <a:rPr lang="en-GB" b="1" dirty="0"/>
              <a:t> Agrawal</a:t>
            </a:r>
            <a:br>
              <a:rPr lang="en-GB" b="1" dirty="0"/>
            </a:br>
            <a:r>
              <a:rPr lang="en-GB" b="1" dirty="0"/>
              <a:t>Renowned Obstetrician &amp; Gynaecologist in </a:t>
            </a:r>
            <a:r>
              <a:rPr lang="en-GB" b="1" dirty="0" err="1"/>
              <a:t>Ghatkopar</a:t>
            </a:r>
            <a:r>
              <a:rPr lang="en-GB" b="1" dirty="0"/>
              <a:t>, Mumbai</a:t>
            </a:r>
            <a:br>
              <a:rPr lang="en-GB" b="1" dirty="0"/>
            </a:br>
            <a:endParaRPr lang="en-IN" dirty="0"/>
          </a:p>
        </p:txBody>
      </p:sp>
      <p:sp>
        <p:nvSpPr>
          <p:cNvPr id="3" name="Content Placeholder 2"/>
          <p:cNvSpPr>
            <a:spLocks noGrp="1"/>
          </p:cNvSpPr>
          <p:nvPr>
            <p:ph idx="1"/>
          </p:nvPr>
        </p:nvSpPr>
        <p:spPr>
          <a:xfrm>
            <a:off x="838200" y="1825625"/>
            <a:ext cx="10515600" cy="4589030"/>
          </a:xfrm>
        </p:spPr>
        <p:txBody>
          <a:bodyPr>
            <a:normAutofit fontScale="85000" lnSpcReduction="20000"/>
          </a:bodyPr>
          <a:lstStyle/>
          <a:p>
            <a:pPr marL="0" indent="0">
              <a:buNone/>
            </a:pPr>
            <a:r>
              <a:rPr lang="en-GB" dirty="0" err="1" smtClean="0"/>
              <a:t>Dr</a:t>
            </a:r>
            <a:r>
              <a:rPr lang="en-GB" dirty="0" err="1"/>
              <a:t>.</a:t>
            </a:r>
            <a:r>
              <a:rPr lang="en-GB" dirty="0"/>
              <a:t> </a:t>
            </a:r>
            <a:r>
              <a:rPr lang="en-GB" dirty="0" err="1"/>
              <a:t>Ritu</a:t>
            </a:r>
            <a:r>
              <a:rPr lang="en-GB" dirty="0"/>
              <a:t> Agrawal is a renowned Obstetrician and Gynaecologist with over </a:t>
            </a:r>
            <a:r>
              <a:rPr lang="en-GB" b="1" dirty="0"/>
              <a:t>28 years of clinical experience</a:t>
            </a:r>
            <a:r>
              <a:rPr lang="en-GB" dirty="0"/>
              <a:t>, dedicated to providing comprehensive, compassionate, and personalised care to women at every stage of life.</a:t>
            </a:r>
          </a:p>
          <a:p>
            <a:pPr marL="0" indent="0">
              <a:buNone/>
            </a:pPr>
            <a:r>
              <a:rPr lang="en-GB" dirty="0"/>
              <a:t>With extensive experience in obstetrics, </a:t>
            </a:r>
            <a:r>
              <a:rPr lang="en-GB" dirty="0" err="1"/>
              <a:t>Dr.</a:t>
            </a:r>
            <a:r>
              <a:rPr lang="en-GB" dirty="0"/>
              <a:t> Agrawal has a special interest in </a:t>
            </a:r>
            <a:r>
              <a:rPr lang="en-GB" b="1" dirty="0"/>
              <a:t>high-risk pregnancies and complex deliveries</a:t>
            </a:r>
            <a:r>
              <a:rPr lang="en-GB" dirty="0"/>
              <a:t>, while also providing expert care for routine pregnancy and childbirth.</a:t>
            </a:r>
          </a:p>
          <a:p>
            <a:pPr marL="0" indent="0">
              <a:buNone/>
            </a:pPr>
            <a:r>
              <a:rPr lang="en-GB" dirty="0"/>
              <a:t>She is highly experienced in the </a:t>
            </a:r>
            <a:r>
              <a:rPr lang="en-GB" b="1" dirty="0"/>
              <a:t>conservative and surgical management of a wide range of gynaecological conditions</a:t>
            </a:r>
            <a:r>
              <a:rPr lang="en-GB" dirty="0"/>
              <a:t>. </a:t>
            </a:r>
            <a:endParaRPr lang="en-GB" dirty="0" smtClean="0"/>
          </a:p>
          <a:p>
            <a:pPr marL="0" indent="0">
              <a:buNone/>
            </a:pPr>
            <a:r>
              <a:rPr lang="en-GB" dirty="0" smtClean="0"/>
              <a:t>Her </a:t>
            </a:r>
            <a:r>
              <a:rPr lang="en-GB" dirty="0"/>
              <a:t>areas of expertise include fertility-enhancing procedures and advanced minimally invasive techniques such as </a:t>
            </a:r>
            <a:r>
              <a:rPr lang="en-GB" b="1" dirty="0"/>
              <a:t>laparoscopic hysterectomy</a:t>
            </a:r>
            <a:r>
              <a:rPr lang="en-GB" dirty="0"/>
              <a:t>, with a strong focus on patient safety and effective clinical outcomes.</a:t>
            </a:r>
          </a:p>
          <a:p>
            <a:pPr marL="0" indent="0">
              <a:buNone/>
            </a:pPr>
            <a:r>
              <a:rPr lang="en-GB" dirty="0" err="1"/>
              <a:t>Dr.</a:t>
            </a:r>
            <a:r>
              <a:rPr lang="en-GB" dirty="0"/>
              <a:t> Agrawal is skilled in </a:t>
            </a:r>
            <a:r>
              <a:rPr lang="en-GB" b="1" dirty="0"/>
              <a:t>open, vaginal, and laparoscopic gynaecological surgeries</a:t>
            </a:r>
            <a:r>
              <a:rPr lang="en-GB" dirty="0"/>
              <a:t>. She believes in an individualised approach to treatment, taking the time to understand each patient's needs and providing care tailored to their specific condition and circumstances.</a:t>
            </a:r>
          </a:p>
          <a:p>
            <a:pPr marL="0" indent="0">
              <a:buNone/>
            </a:pPr>
            <a:endParaRPr lang="en-IN" dirty="0"/>
          </a:p>
        </p:txBody>
      </p:sp>
    </p:spTree>
    <p:extLst>
      <p:ext uri="{BB962C8B-B14F-4D97-AF65-F5344CB8AC3E}">
        <p14:creationId xmlns:p14="http://schemas.microsoft.com/office/powerpoint/2010/main" val="3349268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80"/>
            <a:ext cx="10515600" cy="1325563"/>
          </a:xfrm>
        </p:spPr>
        <p:txBody>
          <a:bodyPr/>
          <a:lstStyle/>
          <a:p>
            <a:r>
              <a:rPr lang="en-IN" b="1" dirty="0"/>
              <a:t>Areas of Expertise</a:t>
            </a:r>
            <a:br>
              <a:rPr lang="en-IN" b="1" dirty="0"/>
            </a:br>
            <a:endParaRPr lang="en-IN" dirty="0"/>
          </a:p>
        </p:txBody>
      </p:sp>
      <p:sp>
        <p:nvSpPr>
          <p:cNvPr id="3" name="Content Placeholder 2"/>
          <p:cNvSpPr>
            <a:spLocks noGrp="1"/>
          </p:cNvSpPr>
          <p:nvPr>
            <p:ph idx="1"/>
          </p:nvPr>
        </p:nvSpPr>
        <p:spPr>
          <a:xfrm>
            <a:off x="838200" y="1259266"/>
            <a:ext cx="5133109" cy="5086115"/>
          </a:xfrm>
        </p:spPr>
        <p:txBody>
          <a:bodyPr>
            <a:normAutofit fontScale="62500" lnSpcReduction="20000"/>
          </a:bodyPr>
          <a:lstStyle/>
          <a:p>
            <a:pPr marL="0" indent="0">
              <a:buNone/>
            </a:pPr>
            <a:r>
              <a:rPr lang="en-IN" sz="4400" dirty="0"/>
              <a:t>Obstetric Care</a:t>
            </a:r>
            <a:endParaRPr lang="en-IN" dirty="0"/>
          </a:p>
          <a:p>
            <a:r>
              <a:rPr lang="en-IN" dirty="0"/>
              <a:t>High-Risk Pregnancy Management</a:t>
            </a:r>
          </a:p>
          <a:p>
            <a:r>
              <a:rPr lang="en-IN" dirty="0"/>
              <a:t>Antenatal &amp; Postnatal Care</a:t>
            </a:r>
          </a:p>
          <a:p>
            <a:r>
              <a:rPr lang="en-IN" dirty="0"/>
              <a:t>Normal &amp; </a:t>
            </a:r>
            <a:r>
              <a:rPr lang="en-IN" dirty="0" err="1"/>
              <a:t>Cesarean</a:t>
            </a:r>
            <a:r>
              <a:rPr lang="en-IN" dirty="0"/>
              <a:t> Deliveries</a:t>
            </a:r>
          </a:p>
          <a:p>
            <a:r>
              <a:rPr lang="en-IN" dirty="0"/>
              <a:t>Complex &amp; Routine Obstetric Care</a:t>
            </a:r>
          </a:p>
          <a:p>
            <a:r>
              <a:rPr lang="en-IN" dirty="0"/>
              <a:t>Family Planning &amp; Contraceptive </a:t>
            </a:r>
            <a:r>
              <a:rPr lang="en-IN" dirty="0" err="1"/>
              <a:t>Counseling</a:t>
            </a:r>
            <a:endParaRPr lang="en-IN" dirty="0"/>
          </a:p>
          <a:p>
            <a:pPr marL="0" indent="0">
              <a:buNone/>
            </a:pPr>
            <a:r>
              <a:rPr lang="en-IN" sz="4400" b="1" dirty="0"/>
              <a:t>Gynaecological Care</a:t>
            </a:r>
          </a:p>
          <a:p>
            <a:r>
              <a:rPr lang="en-IN" dirty="0"/>
              <a:t>Diagnosis &amp; Management of Gynaecological Problems and Disorders</a:t>
            </a:r>
          </a:p>
          <a:p>
            <a:r>
              <a:rPr lang="en-IN" dirty="0"/>
              <a:t>PCOS / PCOD Management</a:t>
            </a:r>
          </a:p>
          <a:p>
            <a:r>
              <a:rPr lang="en-IN" dirty="0"/>
              <a:t>Menstrual Disorders</a:t>
            </a:r>
          </a:p>
          <a:p>
            <a:r>
              <a:rPr lang="en-IN" dirty="0"/>
              <a:t>Menopause &amp; Hormonal Care</a:t>
            </a:r>
          </a:p>
          <a:p>
            <a:r>
              <a:rPr lang="en-IN" dirty="0"/>
              <a:t>Adolescent Gynaecology</a:t>
            </a:r>
          </a:p>
          <a:p>
            <a:r>
              <a:rPr lang="en-IN" dirty="0"/>
              <a:t>Treatment of Fibroids &amp; Ovarian Cysts</a:t>
            </a:r>
          </a:p>
          <a:p>
            <a:r>
              <a:rPr lang="en-IN" dirty="0"/>
              <a:t>Preventive Women’s Health Check-ups</a:t>
            </a:r>
          </a:p>
        </p:txBody>
      </p:sp>
      <p:sp>
        <p:nvSpPr>
          <p:cNvPr id="5" name="Rectangle 1"/>
          <p:cNvSpPr>
            <a:spLocks noChangeArrowheads="1"/>
          </p:cNvSpPr>
          <p:nvPr/>
        </p:nvSpPr>
        <p:spPr bwMode="auto">
          <a:xfrm>
            <a:off x="6664036" y="1213100"/>
            <a:ext cx="4471555" cy="49859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smtClean="0">
              <a:ln>
                <a:noFill/>
              </a:ln>
              <a:solidFill>
                <a:srgbClr val="0D0D0D"/>
              </a:solidFill>
              <a:effectLst/>
              <a:latin typeface="-apple-system-body"/>
            </a:endParaRP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smtClean="0">
                <a:ln>
                  <a:noFill/>
                </a:ln>
                <a:solidFill>
                  <a:srgbClr val="0D0D0D"/>
                </a:solidFill>
                <a:effectLst/>
                <a:latin typeface="-apple-system-body"/>
              </a:rPr>
              <a:t>Fertility &amp; Reproductive Health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smtClean="0">
                <a:ln>
                  <a:noFill/>
                </a:ln>
                <a:solidFill>
                  <a:srgbClr val="0D0D0D"/>
                </a:solidFill>
                <a:effectLst/>
                <a:latin typeface="-apple-system-body"/>
              </a:rPr>
              <a:t>Infertility Evaluation &amp; Treatment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smtClean="0">
                <a:ln>
                  <a:noFill/>
                </a:ln>
                <a:solidFill>
                  <a:srgbClr val="0D0D0D"/>
                </a:solidFill>
                <a:effectLst/>
                <a:latin typeface="-apple-system-body"/>
              </a:rPr>
              <a:t>Fertility-Enhancing Procedures &amp; Surgeries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dirty="0" smtClean="0">
              <a:ln>
                <a:noFill/>
              </a:ln>
              <a:solidFill>
                <a:srgbClr val="0D0D0D"/>
              </a:solidFill>
              <a:effectLst/>
              <a:latin typeface="-apple-system-body"/>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smtClean="0">
                <a:ln>
                  <a:noFill/>
                </a:ln>
                <a:solidFill>
                  <a:srgbClr val="0D0D0D"/>
                </a:solidFill>
                <a:effectLst/>
                <a:latin typeface="-apple-system-body"/>
              </a:rPr>
              <a:t>Gynaecological</a:t>
            </a:r>
            <a:r>
              <a:rPr kumimoji="0" lang="en-US" altLang="en-US" sz="2000" b="1" i="0" u="none" strike="noStrike" cap="none" normalizeH="0" baseline="0" dirty="0" smtClean="0">
                <a:ln>
                  <a:noFill/>
                </a:ln>
                <a:solidFill>
                  <a:srgbClr val="0D0D0D"/>
                </a:solidFill>
                <a:effectLst/>
                <a:latin typeface="-apple-system-body"/>
              </a:rPr>
              <a:t> Surgery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0D0D0D"/>
                </a:solidFill>
                <a:effectLst/>
                <a:latin typeface="-apple-system-body"/>
              </a:rPr>
              <a:t>Minimally Invasive </a:t>
            </a:r>
            <a:r>
              <a:rPr kumimoji="0" lang="en-US" altLang="en-US" sz="2000" b="0" i="0" u="none" strike="noStrike" cap="none" normalizeH="0" baseline="0" dirty="0" err="1" smtClean="0">
                <a:ln>
                  <a:noFill/>
                </a:ln>
                <a:solidFill>
                  <a:srgbClr val="0D0D0D"/>
                </a:solidFill>
                <a:effectLst/>
                <a:latin typeface="-apple-system-body"/>
              </a:rPr>
              <a:t>Gynaecological</a:t>
            </a:r>
            <a:r>
              <a:rPr kumimoji="0" lang="en-US" altLang="en-US" sz="2000" b="0" i="0" u="none" strike="noStrike" cap="none" normalizeH="0" baseline="0" dirty="0" smtClean="0">
                <a:ln>
                  <a:noFill/>
                </a:ln>
                <a:solidFill>
                  <a:srgbClr val="0D0D0D"/>
                </a:solidFill>
                <a:effectLst/>
                <a:latin typeface="-apple-system-body"/>
              </a:rPr>
              <a:t> Procedures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0D0D0D"/>
                </a:solidFill>
                <a:effectLst/>
                <a:latin typeface="-apple-system-body"/>
              </a:rPr>
              <a:t>Laparoscopic Hysterectomy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0D0D0D"/>
                </a:solidFill>
                <a:effectLst/>
                <a:latin typeface="-apple-system-body"/>
              </a:rPr>
              <a:t>Advanced Laparoscopic </a:t>
            </a:r>
            <a:r>
              <a:rPr kumimoji="0" lang="en-US" altLang="en-US" sz="2000" b="0" i="0" u="none" strike="noStrike" cap="none" normalizeH="0" baseline="0" dirty="0" err="1" smtClean="0">
                <a:ln>
                  <a:noFill/>
                </a:ln>
                <a:solidFill>
                  <a:srgbClr val="0D0D0D"/>
                </a:solidFill>
                <a:effectLst/>
                <a:latin typeface="-apple-system-body"/>
              </a:rPr>
              <a:t>Gynaecological</a:t>
            </a:r>
            <a:r>
              <a:rPr kumimoji="0" lang="en-US" altLang="en-US" sz="2000" b="0" i="0" u="none" strike="noStrike" cap="none" normalizeH="0" baseline="0" dirty="0" smtClean="0">
                <a:ln>
                  <a:noFill/>
                </a:ln>
                <a:solidFill>
                  <a:srgbClr val="0D0D0D"/>
                </a:solidFill>
                <a:effectLst/>
                <a:latin typeface="-apple-system-body"/>
              </a:rPr>
              <a:t> Surgery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0D0D0D"/>
                </a:solidFill>
                <a:effectLst/>
                <a:latin typeface="-apple-system-body"/>
              </a:rPr>
              <a:t>Open </a:t>
            </a:r>
            <a:r>
              <a:rPr kumimoji="0" lang="en-US" altLang="en-US" sz="2000" b="0" i="0" u="none" strike="noStrike" cap="none" normalizeH="0" baseline="0" dirty="0" err="1" smtClean="0">
                <a:ln>
                  <a:noFill/>
                </a:ln>
                <a:solidFill>
                  <a:srgbClr val="0D0D0D"/>
                </a:solidFill>
                <a:effectLst/>
                <a:latin typeface="-apple-system-body"/>
              </a:rPr>
              <a:t>Gynaecological</a:t>
            </a:r>
            <a:r>
              <a:rPr kumimoji="0" lang="en-US" altLang="en-US" sz="2000" b="0" i="0" u="none" strike="noStrike" cap="none" normalizeH="0" baseline="0" dirty="0" smtClean="0">
                <a:ln>
                  <a:noFill/>
                </a:ln>
                <a:solidFill>
                  <a:srgbClr val="0D0D0D"/>
                </a:solidFill>
                <a:effectLst/>
                <a:latin typeface="-apple-system-body"/>
              </a:rPr>
              <a:t> Surgery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0D0D0D"/>
                </a:solidFill>
                <a:effectLst/>
                <a:latin typeface="-apple-system-body"/>
              </a:rPr>
              <a:t>Vaginal Surgery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rPr>
              <a:t/>
            </a:r>
            <a:br>
              <a:rPr kumimoji="0" lang="en-US" altLang="en-US" sz="1800" b="0" i="0" u="none" strike="noStrike" cap="none" normalizeH="0" baseline="0" dirty="0" smtClean="0">
                <a:ln>
                  <a:noFill/>
                </a:ln>
                <a:solidFill>
                  <a:schemeClr val="tx1"/>
                </a:solidFill>
                <a:effectLst/>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0187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84118" y="522604"/>
            <a:ext cx="7616536" cy="6335396"/>
          </a:xfrm>
        </p:spPr>
        <p:txBody>
          <a:bodyPr>
            <a:normAutofit fontScale="92500" lnSpcReduction="20000"/>
          </a:bodyPr>
          <a:lstStyle/>
          <a:p>
            <a:pPr marL="0" indent="0">
              <a:buNone/>
            </a:pPr>
            <a:r>
              <a:rPr lang="en-IN" b="1" dirty="0" err="1"/>
              <a:t>Zynova</a:t>
            </a:r>
            <a:r>
              <a:rPr lang="en-IN" b="1" dirty="0"/>
              <a:t> Hospitals </a:t>
            </a:r>
            <a:r>
              <a:rPr lang="en-IN" b="1" dirty="0" err="1"/>
              <a:t>Pvt.</a:t>
            </a:r>
            <a:r>
              <a:rPr lang="en-IN" b="1" dirty="0"/>
              <a:t> Ltd.,</a:t>
            </a:r>
            <a:br>
              <a:rPr lang="en-IN" b="1" dirty="0"/>
            </a:br>
            <a:r>
              <a:rPr lang="en-IN" dirty="0"/>
              <a:t>LBS Marg, </a:t>
            </a:r>
            <a:r>
              <a:rPr lang="en-IN" dirty="0" err="1"/>
              <a:t>Ghatkopar</a:t>
            </a:r>
            <a:r>
              <a:rPr lang="en-IN" dirty="0"/>
              <a:t> West,</a:t>
            </a:r>
            <a:br>
              <a:rPr lang="en-IN" dirty="0"/>
            </a:br>
            <a:r>
              <a:rPr lang="en-IN" dirty="0"/>
              <a:t>Mumbai – 400086, </a:t>
            </a:r>
            <a:r>
              <a:rPr lang="en-IN" dirty="0" smtClean="0"/>
              <a:t>Maharashtra</a:t>
            </a:r>
          </a:p>
          <a:p>
            <a:pPr marL="0" indent="0">
              <a:buNone/>
            </a:pPr>
            <a:r>
              <a:rPr lang="en-GB" sz="2600" dirty="0" smtClean="0"/>
              <a:t>Timing : – 06:00 to 07:00 pm every day.</a:t>
            </a:r>
          </a:p>
          <a:p>
            <a:pPr marL="0" indent="0">
              <a:buNone/>
            </a:pPr>
            <a:r>
              <a:rPr lang="en-GB" b="1" dirty="0" err="1" smtClean="0"/>
              <a:t>Sapna</a:t>
            </a:r>
            <a:r>
              <a:rPr lang="en-GB" b="1" dirty="0" smtClean="0"/>
              <a:t> Health Care </a:t>
            </a:r>
            <a:r>
              <a:rPr lang="en-GB" b="1" dirty="0" err="1" smtClean="0"/>
              <a:t>Centre.LBS</a:t>
            </a:r>
            <a:r>
              <a:rPr lang="en-GB" b="1" dirty="0" smtClean="0"/>
              <a:t> MARG , GHATKOPAR WEST </a:t>
            </a:r>
          </a:p>
          <a:p>
            <a:pPr marL="0" indent="0">
              <a:buNone/>
            </a:pPr>
            <a:r>
              <a:rPr lang="en-GB" sz="2600" dirty="0" smtClean="0"/>
              <a:t>Timing : – 07:00 to 08:00 pm every day.</a:t>
            </a:r>
          </a:p>
          <a:p>
            <a:pPr marL="0" indent="0">
              <a:buNone/>
            </a:pPr>
            <a:r>
              <a:rPr lang="en-IN" b="1" dirty="0" err="1" smtClean="0"/>
              <a:t>Disha</a:t>
            </a:r>
            <a:r>
              <a:rPr lang="en-IN" b="1" dirty="0" smtClean="0"/>
              <a:t> </a:t>
            </a:r>
            <a:r>
              <a:rPr lang="en-IN" b="1" dirty="0"/>
              <a:t>Hospital</a:t>
            </a:r>
            <a:r>
              <a:rPr lang="en-IN" b="1" dirty="0" smtClean="0"/>
              <a:t>,</a:t>
            </a:r>
          </a:p>
          <a:p>
            <a:pPr marL="0" indent="0">
              <a:buNone/>
            </a:pPr>
            <a:r>
              <a:rPr lang="en-IN" dirty="0" smtClean="0"/>
              <a:t>Andheri-</a:t>
            </a:r>
            <a:r>
              <a:rPr lang="en-IN" dirty="0" err="1" smtClean="0"/>
              <a:t>Ghatkopar</a:t>
            </a:r>
            <a:r>
              <a:rPr lang="en-IN" dirty="0" smtClean="0"/>
              <a:t> </a:t>
            </a:r>
            <a:r>
              <a:rPr lang="en-IN" dirty="0"/>
              <a:t>Link Road, </a:t>
            </a:r>
            <a:r>
              <a:rPr lang="en-IN" dirty="0" err="1"/>
              <a:t>Ghatkopar</a:t>
            </a:r>
            <a:r>
              <a:rPr lang="en-IN" dirty="0"/>
              <a:t> (w), Mumbai, India, </a:t>
            </a:r>
            <a:r>
              <a:rPr lang="en-IN" dirty="0"/>
              <a:t>Maharashtra 400086</a:t>
            </a:r>
          </a:p>
          <a:p>
            <a:pPr marL="0" indent="0">
              <a:buNone/>
            </a:pPr>
            <a:r>
              <a:rPr lang="en-IN" b="1" dirty="0" err="1" smtClean="0"/>
              <a:t>Pancholi</a:t>
            </a:r>
            <a:r>
              <a:rPr lang="en-IN" b="1" dirty="0" smtClean="0"/>
              <a:t> </a:t>
            </a:r>
            <a:r>
              <a:rPr lang="en-IN" b="1" dirty="0" smtClean="0"/>
              <a:t>Hospital</a:t>
            </a:r>
          </a:p>
          <a:p>
            <a:pPr marL="0" indent="0">
              <a:buNone/>
            </a:pPr>
            <a:r>
              <a:rPr lang="en-IN" dirty="0"/>
              <a:t>90 Feet Rd, </a:t>
            </a:r>
            <a:r>
              <a:rPr lang="en-IN" dirty="0" err="1"/>
              <a:t>Sudarshan</a:t>
            </a:r>
            <a:r>
              <a:rPr lang="en-IN" dirty="0"/>
              <a:t> Society, </a:t>
            </a:r>
            <a:r>
              <a:rPr lang="en-IN" dirty="0" err="1"/>
              <a:t>Garodia</a:t>
            </a:r>
            <a:r>
              <a:rPr lang="en-IN" dirty="0"/>
              <a:t> Nagar, </a:t>
            </a:r>
            <a:r>
              <a:rPr lang="en-IN" dirty="0" err="1"/>
              <a:t>Ghatkopar</a:t>
            </a:r>
            <a:r>
              <a:rPr lang="en-IN" dirty="0"/>
              <a:t> East, Mumbai, Maharashtra </a:t>
            </a:r>
            <a:r>
              <a:rPr lang="en-IN" dirty="0" smtClean="0"/>
              <a:t>400077</a:t>
            </a:r>
          </a:p>
          <a:p>
            <a:pPr marL="0" indent="0">
              <a:buNone/>
            </a:pPr>
            <a:r>
              <a:rPr lang="en-IN" b="1" dirty="0" err="1"/>
              <a:t>Jeevan</a:t>
            </a:r>
            <a:r>
              <a:rPr lang="en-IN" b="1" dirty="0"/>
              <a:t> </a:t>
            </a:r>
            <a:r>
              <a:rPr lang="en-IN" b="1" dirty="0" err="1"/>
              <a:t>Jyot</a:t>
            </a:r>
            <a:r>
              <a:rPr lang="en-IN" b="1" dirty="0"/>
              <a:t> Hospital</a:t>
            </a:r>
            <a:r>
              <a:rPr lang="en-IN" b="1" dirty="0" smtClean="0"/>
              <a:t/>
            </a:r>
            <a:br>
              <a:rPr lang="en-IN" b="1" dirty="0" smtClean="0"/>
            </a:br>
            <a:r>
              <a:rPr lang="en-IN" dirty="0" err="1"/>
              <a:t>Jeevan</a:t>
            </a:r>
            <a:r>
              <a:rPr lang="en-IN" dirty="0"/>
              <a:t> </a:t>
            </a:r>
            <a:r>
              <a:rPr lang="en-IN" dirty="0" err="1"/>
              <a:t>Jyoti</a:t>
            </a:r>
            <a:r>
              <a:rPr lang="en-IN" dirty="0"/>
              <a:t> Apartment, Station Road</a:t>
            </a:r>
            <a:r>
              <a:rPr lang="en-IN" dirty="0" smtClean="0"/>
              <a:t>,  </a:t>
            </a:r>
            <a:r>
              <a:rPr lang="en-IN" dirty="0" err="1" smtClean="0"/>
              <a:t>Ghatkopar</a:t>
            </a:r>
            <a:r>
              <a:rPr lang="en-IN" dirty="0" smtClean="0"/>
              <a:t> </a:t>
            </a:r>
            <a:r>
              <a:rPr lang="en-IN" dirty="0"/>
              <a:t>West, Landmark Opposite Railway </a:t>
            </a:r>
            <a:r>
              <a:rPr lang="en-IN" dirty="0" err="1" smtClean="0"/>
              <a:t>Station,Mumbai</a:t>
            </a:r>
            <a:r>
              <a:rPr lang="en-IN" dirty="0"/>
              <a:t>, Maharashtra, 400086</a:t>
            </a:r>
            <a:endParaRPr lang="en-IN" dirty="0" smtClean="0"/>
          </a:p>
          <a:p>
            <a:pPr marL="0" indent="0">
              <a:buNone/>
            </a:pPr>
            <a:endParaRPr lang="en-IN" dirty="0"/>
          </a:p>
        </p:txBody>
      </p:sp>
    </p:spTree>
    <p:extLst>
      <p:ext uri="{BB962C8B-B14F-4D97-AF65-F5344CB8AC3E}">
        <p14:creationId xmlns:p14="http://schemas.microsoft.com/office/powerpoint/2010/main" val="2597443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https://sapnahealthcare.com/wp-content/uploads/2022/04/SAPNA-HOSPITAL-DR-AMIN-SHAH-LOGOs-e1752641643250-1024x29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9706"/>
            <a:ext cx="6149340" cy="17835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754" y="2148674"/>
            <a:ext cx="6794357" cy="149476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o photo description available."/>
          <p:cNvPicPr>
            <a:picLocks noChangeAspect="1" noChangeArrowheads="1"/>
          </p:cNvPicPr>
          <p:nvPr/>
        </p:nvPicPr>
        <p:blipFill rotWithShape="1">
          <a:blip r:embed="rId4">
            <a:extLst>
              <a:ext uri="{28A0092B-C50C-407E-A947-70E740481C1C}">
                <a14:useLocalDpi xmlns:a14="http://schemas.microsoft.com/office/drawing/2010/main" val="0"/>
              </a:ext>
            </a:extLst>
          </a:blip>
          <a:srcRect t="37469" r="16336"/>
          <a:stretch/>
        </p:blipFill>
        <p:spPr bwMode="auto">
          <a:xfrm>
            <a:off x="6987540" y="1289317"/>
            <a:ext cx="5151120" cy="221075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Dr. Amol Manerkar (Pancholi Hospital) in Ghatkopar East ..."/>
          <p:cNvPicPr>
            <a:picLocks noChangeAspect="1" noChangeArrowheads="1"/>
          </p:cNvPicPr>
          <p:nvPr/>
        </p:nvPicPr>
        <p:blipFill rotWithShape="1">
          <a:blip r:embed="rId5">
            <a:extLst>
              <a:ext uri="{28A0092B-C50C-407E-A947-70E740481C1C}">
                <a14:useLocalDpi xmlns:a14="http://schemas.microsoft.com/office/drawing/2010/main" val="0"/>
              </a:ext>
            </a:extLst>
          </a:blip>
          <a:srcRect b="59683"/>
          <a:stretch/>
        </p:blipFill>
        <p:spPr bwMode="auto">
          <a:xfrm>
            <a:off x="452754" y="4101421"/>
            <a:ext cx="5483435" cy="221075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6"/>
          <a:stretch>
            <a:fillRect/>
          </a:stretch>
        </p:blipFill>
        <p:spPr>
          <a:xfrm>
            <a:off x="6614880" y="4347441"/>
            <a:ext cx="5349011" cy="1964733"/>
          </a:xfrm>
          <a:prstGeom prst="rect">
            <a:avLst/>
          </a:prstGeom>
        </p:spPr>
      </p:pic>
    </p:spTree>
    <p:extLst>
      <p:ext uri="{BB962C8B-B14F-4D97-AF65-F5344CB8AC3E}">
        <p14:creationId xmlns:p14="http://schemas.microsoft.com/office/powerpoint/2010/main" val="2107122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Laparoscopy &amp; Keyhole Surgery</a:t>
            </a:r>
            <a:br>
              <a:rPr lang="en-GB" b="1" dirty="0"/>
            </a:br>
            <a:endParaRPr lang="en-IN" dirty="0"/>
          </a:p>
        </p:txBody>
      </p:sp>
      <p:sp>
        <p:nvSpPr>
          <p:cNvPr id="3" name="Content Placeholder 2"/>
          <p:cNvSpPr>
            <a:spLocks noGrp="1"/>
          </p:cNvSpPr>
          <p:nvPr>
            <p:ph idx="1"/>
          </p:nvPr>
        </p:nvSpPr>
        <p:spPr/>
        <p:txBody>
          <a:bodyPr>
            <a:normAutofit fontScale="92500" lnSpcReduction="20000"/>
          </a:bodyPr>
          <a:lstStyle/>
          <a:p>
            <a:r>
              <a:rPr lang="en-GB" b="1" dirty="0" smtClean="0"/>
              <a:t>Laparoscopy</a:t>
            </a:r>
            <a:r>
              <a:rPr lang="en-GB" b="1" dirty="0"/>
              <a:t>, also known as keyhole surgery, is an important part of modern gynaecological care.</a:t>
            </a:r>
            <a:r>
              <a:rPr lang="en-GB" dirty="0"/>
              <a:t> It offers significant advantages in the management of infertility and a wide range of gynaecological conditions, including reduced hospital stay, less postoperative discomfort, and faster recovery.</a:t>
            </a:r>
          </a:p>
          <a:p>
            <a:r>
              <a:rPr lang="en-GB" dirty="0"/>
              <a:t>For the surgeon, laparoscopic procedures provide </a:t>
            </a:r>
            <a:r>
              <a:rPr lang="en-GB" b="1" dirty="0"/>
              <a:t>enhanced magnification and precision</a:t>
            </a:r>
            <a:r>
              <a:rPr lang="en-GB" dirty="0"/>
              <a:t>, along with reduced blood loss in many procedures. Fertility-enhancing procedures, ovarian surgeries, and hysterectomies can be performed using advanced laparoscopic techniques when clinically appropriate.</a:t>
            </a:r>
          </a:p>
          <a:p>
            <a:r>
              <a:rPr lang="en-GB" dirty="0"/>
              <a:t>With access to a </a:t>
            </a:r>
            <a:r>
              <a:rPr lang="en-GB" b="1" dirty="0"/>
              <a:t>well-equipped operating theatre and a skilled, experienced surgical team</a:t>
            </a:r>
            <a:r>
              <a:rPr lang="en-GB" dirty="0"/>
              <a:t>, </a:t>
            </a:r>
            <a:r>
              <a:rPr lang="en-GB" dirty="0" err="1"/>
              <a:t>Dr.</a:t>
            </a:r>
            <a:r>
              <a:rPr lang="en-GB" dirty="0"/>
              <a:t> </a:t>
            </a:r>
            <a:r>
              <a:rPr lang="en-GB" dirty="0" err="1"/>
              <a:t>Ritu</a:t>
            </a:r>
            <a:r>
              <a:rPr lang="en-GB" dirty="0"/>
              <a:t> Agrawal focuses on delivering safe, precise, and effective minimally invasive gynaecological care with the aim of achieving excellent clinical outcomes.</a:t>
            </a:r>
          </a:p>
          <a:p>
            <a:endParaRPr lang="en-IN" dirty="0"/>
          </a:p>
        </p:txBody>
      </p:sp>
    </p:spTree>
    <p:extLst>
      <p:ext uri="{BB962C8B-B14F-4D97-AF65-F5344CB8AC3E}">
        <p14:creationId xmlns:p14="http://schemas.microsoft.com/office/powerpoint/2010/main" val="3119263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84947"/>
            <a:ext cx="10515600" cy="1325563"/>
          </a:xfrm>
        </p:spPr>
        <p:txBody>
          <a:bodyPr/>
          <a:lstStyle/>
          <a:p>
            <a:r>
              <a:rPr lang="en-US" dirty="0">
                <a:solidFill>
                  <a:srgbClr val="FF0000"/>
                </a:solidFill>
              </a:rPr>
              <a:t>ANTENATAL   SCREENING AND  COUSELLING</a:t>
            </a:r>
          </a:p>
        </p:txBody>
      </p:sp>
      <p:sp>
        <p:nvSpPr>
          <p:cNvPr id="3" name="Content Placeholder 2"/>
          <p:cNvSpPr>
            <a:spLocks noGrp="1"/>
          </p:cNvSpPr>
          <p:nvPr>
            <p:ph idx="1"/>
          </p:nvPr>
        </p:nvSpPr>
        <p:spPr>
          <a:xfrm>
            <a:off x="367146" y="925601"/>
            <a:ext cx="8388927" cy="5087271"/>
          </a:xfrm>
        </p:spPr>
        <p:txBody>
          <a:bodyPr>
            <a:noAutofit/>
          </a:bodyPr>
          <a:lstStyle/>
          <a:p>
            <a:r>
              <a:rPr lang="en-US" sz="2400" dirty="0"/>
              <a:t>Regular Antenatal care </a:t>
            </a:r>
          </a:p>
          <a:p>
            <a:r>
              <a:rPr lang="en-US" sz="2400" dirty="0"/>
              <a:t>Antenatal Yoga </a:t>
            </a:r>
          </a:p>
          <a:p>
            <a:r>
              <a:rPr lang="en-US" sz="2400" dirty="0"/>
              <a:t>Painless deliveries</a:t>
            </a:r>
          </a:p>
          <a:p>
            <a:r>
              <a:rPr lang="en-US" sz="2400" dirty="0"/>
              <a:t>Regular antenatal education session for patients .</a:t>
            </a:r>
          </a:p>
          <a:p>
            <a:r>
              <a:rPr lang="en-US" sz="2400" dirty="0" smtClean="0"/>
              <a:t>Prenatal </a:t>
            </a:r>
            <a:r>
              <a:rPr lang="en-US" sz="2400" dirty="0" err="1" smtClean="0"/>
              <a:t>evaluation,screening</a:t>
            </a:r>
            <a:r>
              <a:rPr lang="en-US" sz="2400" dirty="0" smtClean="0"/>
              <a:t> for abnormalities and relevant counselling and advice</a:t>
            </a:r>
          </a:p>
          <a:p>
            <a:pPr marL="0" indent="0">
              <a:buNone/>
            </a:pPr>
            <a:r>
              <a:rPr lang="en-US" sz="2400" dirty="0" smtClean="0"/>
              <a:t> Is </a:t>
            </a:r>
            <a:r>
              <a:rPr lang="en-US" sz="2400" dirty="0" err="1" smtClean="0"/>
              <a:t>given,helping</a:t>
            </a:r>
            <a:r>
              <a:rPr lang="en-US" sz="2400" dirty="0" smtClean="0"/>
              <a:t> to detect problems at a nascent stage .</a:t>
            </a:r>
          </a:p>
          <a:p>
            <a:r>
              <a:rPr lang="en-US" sz="2400" dirty="0" smtClean="0"/>
              <a:t>We </a:t>
            </a:r>
            <a:r>
              <a:rPr lang="en-US" sz="2400" dirty="0"/>
              <a:t>support you throughout your pregnancy ,we provide best possible care during all 3 trimesters with complete ultrasound scans, lab tests and consultations.</a:t>
            </a:r>
          </a:p>
          <a:p>
            <a:r>
              <a:rPr lang="en-US" sz="2400" dirty="0"/>
              <a:t>Our team comprises best doctors  who focus on normal </a:t>
            </a:r>
            <a:r>
              <a:rPr lang="en-US" sz="2400" dirty="0" smtClean="0"/>
              <a:t>pregnancy and </a:t>
            </a:r>
            <a:r>
              <a:rPr lang="en-US" sz="2400" dirty="0" err="1" smtClean="0"/>
              <a:t>delivary</a:t>
            </a:r>
            <a:r>
              <a:rPr lang="en-US" sz="2400" dirty="0" smtClean="0"/>
              <a:t> , </a:t>
            </a:r>
            <a:r>
              <a:rPr lang="en-US" sz="2400" dirty="0"/>
              <a:t>thus we are identified as a </a:t>
            </a:r>
            <a:r>
              <a:rPr lang="en-US" sz="2400" dirty="0" smtClean="0"/>
              <a:t>Normal Delivery Hospital </a:t>
            </a:r>
            <a:r>
              <a:rPr lang="en-US" sz="2400" dirty="0"/>
              <a:t>.</a:t>
            </a:r>
          </a:p>
          <a:p>
            <a:r>
              <a:rPr lang="en-US" sz="2400" dirty="0"/>
              <a:t>You and your little angel are in the safest hands at our centre and its  one of the best maternity hospital in Mumbai.</a:t>
            </a:r>
          </a:p>
          <a:p>
            <a:pPr>
              <a:buNone/>
            </a:pPr>
            <a:endParaRPr lang="en-US" sz="2000" dirty="0"/>
          </a:p>
          <a:p>
            <a:pPr>
              <a:buNone/>
            </a:pPr>
            <a:endParaRPr lang="en-US" sz="3200" dirty="0"/>
          </a:p>
          <a:p>
            <a:pPr>
              <a:buNone/>
            </a:pPr>
            <a:endParaRPr lang="en-US" sz="1800" dirty="0"/>
          </a:p>
          <a:p>
            <a:pPr>
              <a:buNone/>
            </a:pPr>
            <a:r>
              <a:rPr lang="en-US" sz="900" dirty="0"/>
              <a:t/>
            </a:r>
            <a:br>
              <a:rPr lang="en-US" sz="900" dirty="0"/>
            </a:br>
            <a:endParaRPr lang="en-US" sz="900" dirty="0"/>
          </a:p>
        </p:txBody>
      </p:sp>
      <p:pic>
        <p:nvPicPr>
          <p:cNvPr id="4" name="Picture 3"/>
          <p:cNvPicPr>
            <a:picLocks noChangeAspect="1"/>
          </p:cNvPicPr>
          <p:nvPr/>
        </p:nvPicPr>
        <p:blipFill>
          <a:blip r:embed="rId2"/>
          <a:stretch>
            <a:fillRect/>
          </a:stretch>
        </p:blipFill>
        <p:spPr>
          <a:xfrm>
            <a:off x="9466511" y="3447153"/>
            <a:ext cx="2565719" cy="2565719"/>
          </a:xfrm>
          <a:prstGeom prst="rect">
            <a:avLst/>
          </a:prstGeom>
        </p:spPr>
      </p:pic>
    </p:spTree>
    <p:extLst>
      <p:ext uri="{BB962C8B-B14F-4D97-AF65-F5344CB8AC3E}">
        <p14:creationId xmlns:p14="http://schemas.microsoft.com/office/powerpoint/2010/main" val="2497366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Hospital Facilities &amp; Services</a:t>
            </a:r>
            <a:br>
              <a:rPr lang="en-GB" b="1" dirty="0"/>
            </a:br>
            <a:endParaRPr lang="en-US"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GB" b="1" dirty="0" smtClean="0"/>
              <a:t>Well-Equipped </a:t>
            </a:r>
            <a:r>
              <a:rPr lang="en-GB" b="1" dirty="0"/>
              <a:t>Labour &amp; Delivery Rooms</a:t>
            </a:r>
            <a:r>
              <a:rPr lang="en-GB" dirty="0"/>
              <a:t> for safe and comfortable childbirth</a:t>
            </a:r>
          </a:p>
          <a:p>
            <a:r>
              <a:rPr lang="en-GB" b="1" dirty="0"/>
              <a:t>Ultra-Modern Operation Theatre</a:t>
            </a:r>
            <a:r>
              <a:rPr lang="en-GB" dirty="0"/>
              <a:t> equipped with advanced surgical technology</a:t>
            </a:r>
          </a:p>
          <a:p>
            <a:r>
              <a:rPr lang="en-GB" b="1" dirty="0"/>
              <a:t>Level III NICU &amp; ICU</a:t>
            </a:r>
            <a:r>
              <a:rPr lang="en-GB" dirty="0"/>
              <a:t> for specialised critical care when required</a:t>
            </a:r>
          </a:p>
          <a:p>
            <a:r>
              <a:rPr lang="en-GB" b="1" dirty="0"/>
              <a:t>Ventilator-Enabled Ambulance Services</a:t>
            </a:r>
            <a:r>
              <a:rPr lang="en-GB" dirty="0"/>
              <a:t> for emergency medical transportation</a:t>
            </a:r>
          </a:p>
          <a:p>
            <a:r>
              <a:rPr lang="en-GB" b="1" dirty="0"/>
              <a:t>Trained &amp; Experienced Nursing and Medical Staff</a:t>
            </a:r>
            <a:r>
              <a:rPr lang="en-GB" dirty="0"/>
              <a:t> providing attentive care</a:t>
            </a:r>
          </a:p>
          <a:p>
            <a:r>
              <a:rPr lang="en-GB" b="1" dirty="0"/>
              <a:t>24×7 Pharmacy, Ultrasound, Laboratory &amp; X-Ray Services</a:t>
            </a:r>
            <a:r>
              <a:rPr lang="en-GB" dirty="0"/>
              <a:t> for round-the-clock support</a:t>
            </a:r>
          </a:p>
          <a:p>
            <a:r>
              <a:rPr lang="en-GB" b="1" dirty="0"/>
              <a:t>Blood Storage Facility</a:t>
            </a:r>
            <a:r>
              <a:rPr lang="en-GB" dirty="0"/>
              <a:t> for timely access to blood products when required</a:t>
            </a:r>
          </a:p>
          <a:p>
            <a:r>
              <a:rPr lang="en-GB" b="1" dirty="0"/>
              <a:t>Painless Delivery Options</a:t>
            </a:r>
            <a:r>
              <a:rPr lang="en-GB" dirty="0"/>
              <a:t> with epidural analgesia, where clinically appropriate</a:t>
            </a:r>
          </a:p>
          <a:p>
            <a:r>
              <a:rPr lang="en-GB" b="1" dirty="0"/>
              <a:t>Experienced Medical Specialists</a:t>
            </a:r>
            <a:r>
              <a:rPr lang="en-GB" dirty="0"/>
              <a:t> for comprehensive maternity and gynaecological care</a:t>
            </a:r>
          </a:p>
          <a:p>
            <a:r>
              <a:rPr lang="en-GB" b="1" dirty="0"/>
              <a:t>Flexible Maternity Packages</a:t>
            </a:r>
            <a:r>
              <a:rPr lang="en-GB" dirty="0"/>
              <a:t> designed to meet different patient needs</a:t>
            </a:r>
          </a:p>
          <a:p>
            <a:endParaRPr lang="en-IN" dirty="0"/>
          </a:p>
          <a:p>
            <a:endParaRPr lang="en-US" dirty="0"/>
          </a:p>
        </p:txBody>
      </p:sp>
    </p:spTree>
    <p:extLst>
      <p:ext uri="{BB962C8B-B14F-4D97-AF65-F5344CB8AC3E}">
        <p14:creationId xmlns:p14="http://schemas.microsoft.com/office/powerpoint/2010/main" val="184659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Ultrasound in Obstetrics &amp; Gynaecology</a:t>
            </a:r>
            <a:br>
              <a:rPr lang="en-GB" b="1" dirty="0"/>
            </a:br>
            <a:endParaRPr lang="en-IN" dirty="0"/>
          </a:p>
        </p:txBody>
      </p:sp>
      <p:sp>
        <p:nvSpPr>
          <p:cNvPr id="3" name="Content Placeholder 2"/>
          <p:cNvSpPr>
            <a:spLocks noGrp="1"/>
          </p:cNvSpPr>
          <p:nvPr>
            <p:ph idx="1"/>
          </p:nvPr>
        </p:nvSpPr>
        <p:spPr>
          <a:xfrm>
            <a:off x="450273" y="1313007"/>
            <a:ext cx="8042564" cy="4351338"/>
          </a:xfrm>
        </p:spPr>
        <p:txBody>
          <a:bodyPr>
            <a:normAutofit fontScale="92500" lnSpcReduction="10000"/>
          </a:bodyPr>
          <a:lstStyle/>
          <a:p>
            <a:r>
              <a:rPr lang="en-GB" b="1" dirty="0" smtClean="0"/>
              <a:t>Ultrasound </a:t>
            </a:r>
            <a:r>
              <a:rPr lang="en-GB" b="1" dirty="0"/>
              <a:t>is an essential diagnostic tool in modern Obstetrics and Gynaecology</a:t>
            </a:r>
            <a:r>
              <a:rPr lang="en-GB" dirty="0"/>
              <a:t>, offering valuable insights for accurate assessment and monitoring. It is routinely used for </a:t>
            </a:r>
            <a:r>
              <a:rPr lang="en-GB" b="1" dirty="0"/>
              <a:t>antenatal monitoring, pregnancy assessment, and infertility evaluation</a:t>
            </a:r>
            <a:r>
              <a:rPr lang="en-GB" dirty="0"/>
              <a:t>.</a:t>
            </a:r>
          </a:p>
          <a:p>
            <a:r>
              <a:rPr lang="en-GB" dirty="0"/>
              <a:t>With access to </a:t>
            </a:r>
            <a:r>
              <a:rPr lang="en-GB" b="1" dirty="0"/>
              <a:t>advanced ultrasound technology and experienced clinical expertise</a:t>
            </a:r>
            <a:r>
              <a:rPr lang="en-GB" dirty="0"/>
              <a:t>, patients can benefit from accurate evaluation of a wide range of obstetric and gynaecological conditions. Ultrasound also supports </a:t>
            </a:r>
            <a:r>
              <a:rPr lang="en-GB" b="1" dirty="0"/>
              <a:t>routine and interventional procedures</a:t>
            </a:r>
            <a:r>
              <a:rPr lang="en-GB" dirty="0"/>
              <a:t>, helping enable precise diagnosis and appropriate treatment planning.</a:t>
            </a:r>
          </a:p>
          <a:p>
            <a:endParaRPr lang="en-IN" dirty="0"/>
          </a:p>
        </p:txBody>
      </p:sp>
      <p:pic>
        <p:nvPicPr>
          <p:cNvPr id="4" name="Picture 2" descr="medical examining by ultrasonic scan"/>
          <p:cNvPicPr>
            <a:picLocks noChangeAspect="1" noChangeArrowheads="1"/>
          </p:cNvPicPr>
          <p:nvPr/>
        </p:nvPicPr>
        <p:blipFill>
          <a:blip r:embed="rId2">
            <a:extLst>
              <a:ext uri="{28A0092B-C50C-407E-A947-70E740481C1C}">
                <a14:useLocalDpi xmlns:a14="http://schemas.microsoft.com/office/drawing/2010/main" val="0"/>
              </a:ext>
            </a:extLst>
          </a:blip>
          <a:srcRect b="5178"/>
          <a:stretch>
            <a:fillRect/>
          </a:stretch>
        </p:blipFill>
        <p:spPr bwMode="auto">
          <a:xfrm>
            <a:off x="8438366" y="1313007"/>
            <a:ext cx="3629765" cy="5184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9120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Cancer Screening</a:t>
            </a:r>
            <a:br>
              <a:rPr lang="en-GB" dirty="0"/>
            </a:br>
            <a:endParaRPr lang="en-IN" dirty="0"/>
          </a:p>
        </p:txBody>
      </p:sp>
      <p:sp>
        <p:nvSpPr>
          <p:cNvPr id="6" name="Content Placeholder 5"/>
          <p:cNvSpPr>
            <a:spLocks noGrp="1"/>
          </p:cNvSpPr>
          <p:nvPr>
            <p:ph idx="1"/>
          </p:nvPr>
        </p:nvSpPr>
        <p:spPr/>
        <p:txBody>
          <a:bodyPr>
            <a:normAutofit/>
          </a:bodyPr>
          <a:lstStyle/>
          <a:p>
            <a:r>
              <a:rPr lang="en-GB" dirty="0" smtClean="0"/>
              <a:t>Early </a:t>
            </a:r>
            <a:r>
              <a:rPr lang="en-GB" dirty="0"/>
              <a:t>detection of cancer can significantly improve treatment outcomes, particularly when precancerous changes or cancer are identified at an early stage. Regular screening plays an important role in the prevention and early detection of common gynaecological and breast cancers.</a:t>
            </a:r>
          </a:p>
          <a:p>
            <a:r>
              <a:rPr lang="en-GB" dirty="0" smtClean="0"/>
              <a:t>Cancer </a:t>
            </a:r>
            <a:r>
              <a:rPr lang="en-GB" dirty="0"/>
              <a:t>screening and evaluation may include Pap smears, colposcopy, mammography, and other appropriate investigations, based on the patient’s age, symptoms, risk factors, and clinical history. Screening and treatment are planned in accordance with established international guidelines and evidence-based medical practices.</a:t>
            </a:r>
          </a:p>
          <a:p>
            <a:endParaRPr lang="en-GB" dirty="0"/>
          </a:p>
          <a:p>
            <a:endParaRPr lang="en-GB" dirty="0"/>
          </a:p>
          <a:p>
            <a:endParaRPr lang="en-GB" dirty="0"/>
          </a:p>
          <a:p>
            <a:endParaRPr lang="en-IN" dirty="0"/>
          </a:p>
        </p:txBody>
      </p:sp>
    </p:spTree>
    <p:extLst>
      <p:ext uri="{BB962C8B-B14F-4D97-AF65-F5344CB8AC3E}">
        <p14:creationId xmlns:p14="http://schemas.microsoft.com/office/powerpoint/2010/main" val="3166064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Infertility Treatment</a:t>
            </a:r>
            <a:br>
              <a:rPr lang="en-IN" b="1" dirty="0"/>
            </a:br>
            <a:endParaRPr lang="en-IN" dirty="0"/>
          </a:p>
        </p:txBody>
      </p:sp>
      <p:sp>
        <p:nvSpPr>
          <p:cNvPr id="3" name="Content Placeholder 2"/>
          <p:cNvSpPr>
            <a:spLocks noGrp="1"/>
          </p:cNvSpPr>
          <p:nvPr>
            <p:ph idx="1"/>
          </p:nvPr>
        </p:nvSpPr>
        <p:spPr>
          <a:xfrm>
            <a:off x="838200" y="1108364"/>
            <a:ext cx="10841182" cy="5361709"/>
          </a:xfrm>
        </p:spPr>
        <p:txBody>
          <a:bodyPr>
            <a:normAutofit fontScale="77500" lnSpcReduction="20000"/>
          </a:bodyPr>
          <a:lstStyle/>
          <a:p>
            <a:r>
              <a:rPr lang="en-GB" dirty="0"/>
              <a:t>Couples experiencing infertility receive comprehensive evaluation, appropriate investigations, and personalised treatment based on their individual needs. The approach focuses on identifying the underlying cause and offering the most suitable fertility-enhancing options.</a:t>
            </a:r>
          </a:p>
          <a:p>
            <a:endParaRPr lang="en-GB" dirty="0"/>
          </a:p>
          <a:p>
            <a:r>
              <a:rPr lang="en-GB" dirty="0"/>
              <a:t>Laparoscopic and </a:t>
            </a:r>
            <a:r>
              <a:rPr lang="en-GB" dirty="0" err="1"/>
              <a:t>hysteroscopic</a:t>
            </a:r>
            <a:r>
              <a:rPr lang="en-GB" dirty="0"/>
              <a:t> procedures for fertility enhancement are routinely performed when clinically indicated. Our operating theatres are equipped with advanced surgical technology, including Harmonic Scalpel, high-definition cameras, and specialised laparoscopic instruments, supporting precise and minimally invasive procedures.</a:t>
            </a:r>
          </a:p>
          <a:p>
            <a:endParaRPr lang="en-GB" dirty="0"/>
          </a:p>
          <a:p>
            <a:r>
              <a:rPr lang="en-GB" dirty="0"/>
              <a:t>Patients have access to a multidisciplinary team of fertility and assisted reproductive medicine specialists, who provide evidence-based care across a range of treatment options, including IUI and IVF, as well as advanced </a:t>
            </a:r>
            <a:r>
              <a:rPr lang="en-GB" dirty="0" err="1"/>
              <a:t>hysteroscopic</a:t>
            </a:r>
            <a:r>
              <a:rPr lang="en-GB" dirty="0"/>
              <a:t> and laparoscopic surgeries where required.</a:t>
            </a:r>
          </a:p>
          <a:p>
            <a:endParaRPr lang="en-GB" dirty="0"/>
          </a:p>
          <a:p>
            <a:r>
              <a:rPr lang="en-GB" dirty="0"/>
              <a:t>The fertility care team includes experienced embryologists, counsellors, dieticians, and physiotherapists, providing coordinated support throughout the treatment journey.</a:t>
            </a:r>
            <a:endParaRPr lang="en-IN" dirty="0"/>
          </a:p>
        </p:txBody>
      </p:sp>
    </p:spTree>
    <p:extLst>
      <p:ext uri="{BB962C8B-B14F-4D97-AF65-F5344CB8AC3E}">
        <p14:creationId xmlns:p14="http://schemas.microsoft.com/office/powerpoint/2010/main" val="27919456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Adolescent Gynaecology</a:t>
            </a:r>
            <a:br>
              <a:rPr lang="en-IN" b="1" dirty="0"/>
            </a:br>
            <a:endParaRPr lang="en-IN" dirty="0"/>
          </a:p>
        </p:txBody>
      </p:sp>
      <p:sp>
        <p:nvSpPr>
          <p:cNvPr id="3" name="Content Placeholder 2"/>
          <p:cNvSpPr>
            <a:spLocks noGrp="1"/>
          </p:cNvSpPr>
          <p:nvPr>
            <p:ph idx="1"/>
          </p:nvPr>
        </p:nvSpPr>
        <p:spPr/>
        <p:txBody>
          <a:bodyPr>
            <a:normAutofit fontScale="92500" lnSpcReduction="10000"/>
          </a:bodyPr>
          <a:lstStyle/>
          <a:p>
            <a:r>
              <a:rPr lang="en-GB" dirty="0" err="1"/>
              <a:t>Dr.</a:t>
            </a:r>
            <a:r>
              <a:rPr lang="en-GB" dirty="0"/>
              <a:t> </a:t>
            </a:r>
            <a:r>
              <a:rPr lang="en-GB" dirty="0" err="1"/>
              <a:t>Ritu</a:t>
            </a:r>
            <a:r>
              <a:rPr lang="en-GB" dirty="0"/>
              <a:t> Agrawal is committed to promoting healthy development and reproductive health awareness among adolescent girls. She has conducted educational sessions and delivered lectures in schools on menstrual hygiene, puberty, and adolescent health.</a:t>
            </a:r>
          </a:p>
          <a:p>
            <a:pPr marL="0" indent="0">
              <a:buNone/>
            </a:pPr>
            <a:r>
              <a:rPr lang="en-GB" b="1" dirty="0" smtClean="0"/>
              <a:t>Her </a:t>
            </a:r>
            <a:r>
              <a:rPr lang="en-GB" b="1" dirty="0"/>
              <a:t>adolescent gynaecology services include:</a:t>
            </a:r>
          </a:p>
          <a:p>
            <a:r>
              <a:rPr lang="en-GB" dirty="0" smtClean="0"/>
              <a:t>Menstrual </a:t>
            </a:r>
            <a:r>
              <a:rPr lang="en-GB" dirty="0"/>
              <a:t>health and hygiene counselling</a:t>
            </a:r>
          </a:p>
          <a:p>
            <a:r>
              <a:rPr lang="en-GB" dirty="0"/>
              <a:t>Education on puberty and reproductive health</a:t>
            </a:r>
          </a:p>
          <a:p>
            <a:r>
              <a:rPr lang="en-GB" dirty="0"/>
              <a:t>Age-appropriate sex education and awareness</a:t>
            </a:r>
          </a:p>
          <a:p>
            <a:r>
              <a:rPr lang="en-GB" dirty="0"/>
              <a:t>Counselling for menstrual and hormonal concerns</a:t>
            </a:r>
          </a:p>
          <a:p>
            <a:r>
              <a:rPr lang="en-GB" dirty="0"/>
              <a:t>Guidance on maintaining healthy lifestyle and personal hygiene</a:t>
            </a:r>
            <a:endParaRPr lang="en-IN" dirty="0"/>
          </a:p>
        </p:txBody>
      </p:sp>
    </p:spTree>
    <p:extLst>
      <p:ext uri="{BB962C8B-B14F-4D97-AF65-F5344CB8AC3E}">
        <p14:creationId xmlns:p14="http://schemas.microsoft.com/office/powerpoint/2010/main" val="223036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Preconception &amp; Sexual Health Counselling</a:t>
            </a:r>
            <a:br>
              <a:rPr lang="en-GB" b="1" dirty="0"/>
            </a:br>
            <a:endParaRPr lang="en-IN" dirty="0"/>
          </a:p>
        </p:txBody>
      </p:sp>
      <p:sp>
        <p:nvSpPr>
          <p:cNvPr id="3" name="Content Placeholder 2"/>
          <p:cNvSpPr>
            <a:spLocks noGrp="1"/>
          </p:cNvSpPr>
          <p:nvPr>
            <p:ph idx="1"/>
          </p:nvPr>
        </p:nvSpPr>
        <p:spPr>
          <a:xfrm>
            <a:off x="838200" y="1825625"/>
            <a:ext cx="10515600" cy="2538557"/>
          </a:xfrm>
        </p:spPr>
        <p:txBody>
          <a:bodyPr/>
          <a:lstStyle/>
          <a:p>
            <a:pPr marL="0" indent="0">
              <a:buNone/>
            </a:pPr>
            <a:r>
              <a:rPr lang="en-GB" dirty="0" smtClean="0"/>
              <a:t>When </a:t>
            </a:r>
            <a:r>
              <a:rPr lang="en-GB" dirty="0"/>
              <a:t>couples begin planning a family, </a:t>
            </a:r>
            <a:r>
              <a:rPr lang="en-GB" b="1" dirty="0"/>
              <a:t>preconception and sexual health counselling</a:t>
            </a:r>
            <a:r>
              <a:rPr lang="en-GB" dirty="0"/>
              <a:t> can help address concerns related to reproductive health and intimacy. Our team provides confidential, sensitive, and personalised guidance to couples on </a:t>
            </a:r>
            <a:r>
              <a:rPr lang="en-GB" b="1" dirty="0"/>
              <a:t>sexual health, fertility, and related concerns</a:t>
            </a:r>
            <a:r>
              <a:rPr lang="en-GB" dirty="0"/>
              <a:t>, helping them prepare for a healthy pregnancy.</a:t>
            </a:r>
          </a:p>
          <a:p>
            <a:endParaRPr lang="en-IN" dirty="0"/>
          </a:p>
        </p:txBody>
      </p:sp>
    </p:spTree>
    <p:extLst>
      <p:ext uri="{BB962C8B-B14F-4D97-AF65-F5344CB8AC3E}">
        <p14:creationId xmlns:p14="http://schemas.microsoft.com/office/powerpoint/2010/main" val="3274627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Menopausal Clinic</a:t>
            </a:r>
            <a:br>
              <a:rPr lang="en-GB" dirty="0"/>
            </a:br>
            <a:endParaRPr lang="en-IN" dirty="0"/>
          </a:p>
        </p:txBody>
      </p:sp>
      <p:sp>
        <p:nvSpPr>
          <p:cNvPr id="3" name="Content Placeholder 2"/>
          <p:cNvSpPr>
            <a:spLocks noGrp="1"/>
          </p:cNvSpPr>
          <p:nvPr>
            <p:ph idx="1"/>
          </p:nvPr>
        </p:nvSpPr>
        <p:spPr>
          <a:xfrm>
            <a:off x="270164" y="1233055"/>
            <a:ext cx="8956963" cy="4985472"/>
          </a:xfrm>
        </p:spPr>
        <p:txBody>
          <a:bodyPr>
            <a:normAutofit fontScale="70000" lnSpcReduction="20000"/>
          </a:bodyPr>
          <a:lstStyle/>
          <a:p>
            <a:r>
              <a:rPr lang="en-GB" sz="3400" dirty="0" smtClean="0"/>
              <a:t>The </a:t>
            </a:r>
            <a:r>
              <a:rPr lang="en-GB" sz="3400" dirty="0"/>
              <a:t>Menopausal Clinic provides comprehensive and personalised care for women during and after menopause, with a focus on managing symptoms, maintaining long-term health, and improving overall well-being.</a:t>
            </a:r>
          </a:p>
          <a:p>
            <a:pPr marL="0" indent="0">
              <a:buNone/>
            </a:pPr>
            <a:r>
              <a:rPr lang="en-GB" sz="4500" dirty="0" smtClean="0">
                <a:solidFill>
                  <a:srgbClr val="FF0000"/>
                </a:solidFill>
              </a:rPr>
              <a:t>Services </a:t>
            </a:r>
            <a:r>
              <a:rPr lang="en-GB" sz="4500" dirty="0">
                <a:solidFill>
                  <a:srgbClr val="FF0000"/>
                </a:solidFill>
              </a:rPr>
              <a:t>include:</a:t>
            </a:r>
          </a:p>
          <a:p>
            <a:r>
              <a:rPr lang="en-GB" sz="3400" dirty="0" smtClean="0"/>
              <a:t>Menopause </a:t>
            </a:r>
            <a:r>
              <a:rPr lang="en-GB" sz="3400" dirty="0"/>
              <a:t>Counselling &amp; Regular Care — guidance for managing physical and emotional changes associated with menopause</a:t>
            </a:r>
          </a:p>
          <a:p>
            <a:r>
              <a:rPr lang="en-GB" sz="3400" dirty="0"/>
              <a:t>Osteoporosis Prevention &amp; Management — assessment and guidance to support bone health</a:t>
            </a:r>
          </a:p>
          <a:p>
            <a:r>
              <a:rPr lang="en-GB" sz="3400" dirty="0"/>
              <a:t>Cancer Screening — age- and risk-appropriate screening and preventive care</a:t>
            </a:r>
          </a:p>
          <a:p>
            <a:r>
              <a:rPr lang="en-GB" sz="3400" dirty="0"/>
              <a:t>Yoga &amp; Exercise Guidance — recommendations to support fitness, strength, flexibility, and overall well-being</a:t>
            </a:r>
          </a:p>
          <a:p>
            <a:r>
              <a:rPr lang="en-GB" sz="3400" dirty="0"/>
              <a:t>Personalised Diet Plans — nutritional guidance tailored to individual health needs and menopausal concerns</a:t>
            </a:r>
          </a:p>
          <a:p>
            <a:endParaRPr lang="en-GB" dirty="0"/>
          </a:p>
          <a:p>
            <a:endParaRPr lang="en-GB" dirty="0"/>
          </a:p>
          <a:p>
            <a:endParaRPr lang="en-IN" dirty="0"/>
          </a:p>
        </p:txBody>
      </p:sp>
      <p:pic>
        <p:nvPicPr>
          <p:cNvPr id="5" name="Picture 2" descr="Image result for gynecologist"/>
          <p:cNvPicPr>
            <a:picLocks noChangeAspect="1" noChangeArrowheads="1"/>
          </p:cNvPicPr>
          <p:nvPr/>
        </p:nvPicPr>
        <p:blipFill rotWithShape="1">
          <a:blip r:embed="rId2">
            <a:extLst>
              <a:ext uri="{28A0092B-C50C-407E-A947-70E740481C1C}">
                <a14:useLocalDpi xmlns:a14="http://schemas.microsoft.com/office/drawing/2010/main" val="0"/>
              </a:ext>
            </a:extLst>
          </a:blip>
          <a:srcRect l="15230" r="15736"/>
          <a:stretch/>
        </p:blipFill>
        <p:spPr bwMode="auto">
          <a:xfrm>
            <a:off x="8804607" y="2202871"/>
            <a:ext cx="3199096" cy="2606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723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Our Services</a:t>
            </a:r>
            <a:br>
              <a:rPr lang="en-GB" b="1" dirty="0"/>
            </a:b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GB" b="1" dirty="0" smtClean="0">
                <a:solidFill>
                  <a:srgbClr val="FF0000"/>
                </a:solidFill>
              </a:rPr>
              <a:t>We </a:t>
            </a:r>
            <a:r>
              <a:rPr lang="en-GB" b="1" dirty="0">
                <a:solidFill>
                  <a:srgbClr val="FF0000"/>
                </a:solidFill>
              </a:rPr>
              <a:t>provide a comprehensive range of preventive, medical, and surgical gynaecological services, including:</a:t>
            </a:r>
          </a:p>
          <a:p>
            <a:r>
              <a:rPr lang="en-GB" b="1" dirty="0"/>
              <a:t>Hysterectomy</a:t>
            </a:r>
            <a:r>
              <a:rPr lang="en-GB" dirty="0"/>
              <a:t> — including laparoscopic and other appropriate surgical approaches</a:t>
            </a:r>
          </a:p>
          <a:p>
            <a:r>
              <a:rPr lang="en-GB" b="1" dirty="0"/>
              <a:t>Pap Smear &amp; Colposcopy</a:t>
            </a:r>
            <a:r>
              <a:rPr lang="en-GB" dirty="0"/>
              <a:t> — for cervical health assessment and screening</a:t>
            </a:r>
          </a:p>
          <a:p>
            <a:r>
              <a:rPr lang="en-GB" b="1" dirty="0"/>
              <a:t>Laparoscopy (Keyhole Surgery)</a:t>
            </a:r>
            <a:r>
              <a:rPr lang="en-GB" dirty="0"/>
              <a:t> — for the diagnosis and treatment of various gynaecological conditions</a:t>
            </a:r>
          </a:p>
          <a:p>
            <a:r>
              <a:rPr lang="en-GB" b="1" dirty="0"/>
              <a:t>Contraception &amp; Family Planning</a:t>
            </a:r>
            <a:r>
              <a:rPr lang="en-GB" dirty="0"/>
              <a:t> — personalised counselling and contraceptive options</a:t>
            </a:r>
          </a:p>
          <a:p>
            <a:r>
              <a:rPr lang="en-GB" b="1" dirty="0"/>
              <a:t>HPV Vaccination</a:t>
            </a:r>
            <a:r>
              <a:rPr lang="en-GB" dirty="0"/>
              <a:t> — vaccination and guidance for prevention of HPV-related diseases</a:t>
            </a:r>
          </a:p>
          <a:p>
            <a:endParaRPr lang="en-IN" dirty="0"/>
          </a:p>
        </p:txBody>
      </p:sp>
    </p:spTree>
    <p:extLst>
      <p:ext uri="{BB962C8B-B14F-4D97-AF65-F5344CB8AC3E}">
        <p14:creationId xmlns:p14="http://schemas.microsoft.com/office/powerpoint/2010/main" val="31533502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We </a:t>
            </a:r>
            <a:r>
              <a:rPr lang="en-IN" b="1" dirty="0" smtClean="0"/>
              <a:t>Treat --- </a:t>
            </a:r>
            <a:r>
              <a:rPr lang="en-IN" b="1" dirty="0"/>
              <a:t/>
            </a:r>
            <a:br>
              <a:rPr lang="en-IN" b="1" dirty="0"/>
            </a:br>
            <a:endParaRPr lang="en-IN" dirty="0"/>
          </a:p>
        </p:txBody>
      </p:sp>
      <p:sp>
        <p:nvSpPr>
          <p:cNvPr id="3" name="Content Placeholder 2"/>
          <p:cNvSpPr>
            <a:spLocks noGrp="1"/>
          </p:cNvSpPr>
          <p:nvPr>
            <p:ph idx="1"/>
          </p:nvPr>
        </p:nvSpPr>
        <p:spPr>
          <a:xfrm>
            <a:off x="443345" y="955964"/>
            <a:ext cx="10910455" cy="5666509"/>
          </a:xfrm>
        </p:spPr>
        <p:txBody>
          <a:bodyPr>
            <a:normAutofit fontScale="85000" lnSpcReduction="20000"/>
          </a:bodyPr>
          <a:lstStyle/>
          <a:p>
            <a:pPr marL="0" indent="0">
              <a:buNone/>
            </a:pPr>
            <a:r>
              <a:rPr lang="en-IN" sz="4500" b="1" dirty="0" smtClean="0">
                <a:solidFill>
                  <a:srgbClr val="FF0000"/>
                </a:solidFill>
              </a:rPr>
              <a:t>We </a:t>
            </a:r>
            <a:r>
              <a:rPr lang="en-IN" sz="4500" b="1" dirty="0">
                <a:solidFill>
                  <a:srgbClr val="FF0000"/>
                </a:solidFill>
              </a:rPr>
              <a:t>provide comprehensive diagnosis and treatment for a wide range of gynaecological conditions, including:</a:t>
            </a:r>
          </a:p>
          <a:p>
            <a:r>
              <a:rPr lang="en-IN" b="1" dirty="0"/>
              <a:t>Endometriosis</a:t>
            </a:r>
            <a:endParaRPr lang="en-IN" dirty="0"/>
          </a:p>
          <a:p>
            <a:r>
              <a:rPr lang="en-IN" b="1" dirty="0"/>
              <a:t>Uterine Fibroids</a:t>
            </a:r>
            <a:endParaRPr lang="en-IN" dirty="0"/>
          </a:p>
          <a:p>
            <a:r>
              <a:rPr lang="en-IN" b="1" dirty="0"/>
              <a:t>Urinary Incontinence</a:t>
            </a:r>
            <a:endParaRPr lang="en-IN" dirty="0"/>
          </a:p>
          <a:p>
            <a:r>
              <a:rPr lang="en-IN" b="1" dirty="0"/>
              <a:t>Gynaecological Infections</a:t>
            </a:r>
            <a:r>
              <a:rPr lang="en-IN" dirty="0"/>
              <a:t> — including UTIs and Pelvic Inflammatory Disease (PID)</a:t>
            </a:r>
          </a:p>
          <a:p>
            <a:r>
              <a:rPr lang="en-IN" b="1" dirty="0"/>
              <a:t>Pelvic Organ Prolapse</a:t>
            </a:r>
            <a:endParaRPr lang="en-IN" dirty="0"/>
          </a:p>
          <a:p>
            <a:r>
              <a:rPr lang="en-IN" b="1" dirty="0"/>
              <a:t>Abnormal Uterine Bleeding</a:t>
            </a:r>
            <a:endParaRPr lang="en-IN" dirty="0"/>
          </a:p>
          <a:p>
            <a:r>
              <a:rPr lang="en-IN" b="1" dirty="0"/>
              <a:t>Sexually Transmitted Infections (STIs)</a:t>
            </a:r>
            <a:endParaRPr lang="en-IN" dirty="0"/>
          </a:p>
          <a:p>
            <a:r>
              <a:rPr lang="en-IN" b="1" dirty="0"/>
              <a:t>Polycystic Ovary Syndrome (PCOS)</a:t>
            </a:r>
            <a:endParaRPr lang="en-IN" dirty="0"/>
          </a:p>
          <a:p>
            <a:r>
              <a:rPr lang="en-IN" b="1" dirty="0"/>
              <a:t>Ovarian Masses and Cysts</a:t>
            </a:r>
            <a:endParaRPr lang="en-IN" dirty="0"/>
          </a:p>
          <a:p>
            <a:r>
              <a:rPr lang="en-IN" b="1" dirty="0"/>
              <a:t>Abnormal or Irregular Menstrual Periods</a:t>
            </a:r>
            <a:endParaRPr lang="en-IN" dirty="0"/>
          </a:p>
          <a:p>
            <a:r>
              <a:rPr lang="en-IN" b="1" dirty="0"/>
              <a:t>Premenstrual Syndrome (PMS)</a:t>
            </a:r>
            <a:endParaRPr lang="en-IN" dirty="0"/>
          </a:p>
          <a:p>
            <a:endParaRPr lang="en-IN" dirty="0"/>
          </a:p>
        </p:txBody>
      </p:sp>
    </p:spTree>
    <p:extLst>
      <p:ext uri="{BB962C8B-B14F-4D97-AF65-F5344CB8AC3E}">
        <p14:creationId xmlns:p14="http://schemas.microsoft.com/office/powerpoint/2010/main" val="3016049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Diet during pregnancy</a:t>
            </a:r>
            <a:endParaRPr lang="en-IN" dirty="0"/>
          </a:p>
        </p:txBody>
      </p:sp>
      <p:pic>
        <p:nvPicPr>
          <p:cNvPr id="4" name="Picture 2"/>
          <p:cNvPicPr>
            <a:picLocks noGrp="1" noChangeAspect="1" noChangeArrowheads="1"/>
          </p:cNvPicPr>
          <p:nvPr>
            <p:ph idx="1"/>
          </p:nvPr>
        </p:nvPicPr>
        <p:blipFill>
          <a:blip r:embed="rId2"/>
          <a:srcRect/>
          <a:stretch>
            <a:fillRect/>
          </a:stretch>
        </p:blipFill>
        <p:spPr bwMode="auto">
          <a:xfrm>
            <a:off x="2493818" y="1831118"/>
            <a:ext cx="5200783" cy="3713359"/>
          </a:xfrm>
          <a:prstGeom prst="rect">
            <a:avLst/>
          </a:prstGeom>
          <a:noFill/>
          <a:ln w="9525">
            <a:noFill/>
            <a:miter lim="800000"/>
            <a:headEnd/>
            <a:tailEnd/>
          </a:ln>
          <a:effectLst/>
        </p:spPr>
      </p:pic>
    </p:spTree>
    <p:extLst>
      <p:ext uri="{BB962C8B-B14F-4D97-AF65-F5344CB8AC3E}">
        <p14:creationId xmlns:p14="http://schemas.microsoft.com/office/powerpoint/2010/main" val="18675878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24578" name="Picture 2" descr="Image result for cartoon gynecologis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76055" y="-152400"/>
            <a:ext cx="6818194" cy="6818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761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Image result for cartoon gynecolog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268" y="335183"/>
            <a:ext cx="11528120" cy="5764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891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Image result for gynecolog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9408" y="209834"/>
            <a:ext cx="97536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19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595893" y="148690"/>
            <a:ext cx="5825247" cy="5825247"/>
          </a:xfrm>
          <a:prstGeom prst="rect">
            <a:avLst/>
          </a:prstGeom>
        </p:spPr>
      </p:pic>
    </p:spTree>
    <p:extLst>
      <p:ext uri="{BB962C8B-B14F-4D97-AF65-F5344CB8AC3E}">
        <p14:creationId xmlns:p14="http://schemas.microsoft.com/office/powerpoint/2010/main" val="1435065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975624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2" descr="Image result for gynecolog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0517" y="0"/>
            <a:ext cx="6791135" cy="6791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50353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p:cNvPicPr>
            <a:picLocks noChangeAspect="1" noChangeArrowheads="1"/>
          </p:cNvPicPr>
          <p:nvPr/>
        </p:nvPicPr>
        <p:blipFill>
          <a:blip r:embed="rId2">
            <a:clrChange>
              <a:clrFrom>
                <a:srgbClr val="FFFFFF"/>
              </a:clrFrom>
              <a:clrTo>
                <a:srgbClr val="FFFFFF">
                  <a:alpha val="0"/>
                </a:srgbClr>
              </a:clrTo>
            </a:clrChange>
            <a:lum bright="-6000"/>
          </a:blip>
          <a:srcRect/>
          <a:stretch>
            <a:fillRect/>
          </a:stretch>
        </p:blipFill>
        <p:spPr bwMode="auto">
          <a:xfrm>
            <a:off x="2623573" y="387885"/>
            <a:ext cx="6119812" cy="6119812"/>
          </a:xfrm>
          <a:prstGeom prst="rect">
            <a:avLst/>
          </a:prstGeom>
          <a:noFill/>
          <a:ln w="9525" algn="in">
            <a:noFill/>
            <a:miter lim="800000"/>
            <a:headEnd/>
            <a:tailEnd/>
          </a:ln>
          <a:effectLst/>
        </p:spPr>
      </p:pic>
    </p:spTree>
    <p:extLst>
      <p:ext uri="{BB962C8B-B14F-4D97-AF65-F5344CB8AC3E}">
        <p14:creationId xmlns:p14="http://schemas.microsoft.com/office/powerpoint/2010/main" val="3151647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1266" name="Picture 2"/>
          <p:cNvPicPr>
            <a:picLocks noChangeAspect="1" noChangeArrowheads="1"/>
          </p:cNvPicPr>
          <p:nvPr/>
        </p:nvPicPr>
        <p:blipFill>
          <a:blip r:embed="rId2"/>
          <a:srcRect/>
          <a:stretch>
            <a:fillRect/>
          </a:stretch>
        </p:blipFill>
        <p:spPr bwMode="auto">
          <a:xfrm>
            <a:off x="144463" y="144463"/>
            <a:ext cx="7400925" cy="4200525"/>
          </a:xfrm>
          <a:prstGeom prst="rect">
            <a:avLst/>
          </a:prstGeom>
          <a:noFill/>
          <a:ln w="9525">
            <a:noFill/>
            <a:miter lim="800000"/>
            <a:headEnd/>
            <a:tailEnd/>
          </a:ln>
          <a:effectLst/>
        </p:spPr>
      </p:pic>
      <p:pic>
        <p:nvPicPr>
          <p:cNvPr id="11267" name="Picture 3"/>
          <p:cNvPicPr>
            <a:picLocks noChangeAspect="1" noChangeArrowheads="1"/>
          </p:cNvPicPr>
          <p:nvPr/>
        </p:nvPicPr>
        <p:blipFill>
          <a:blip r:embed="rId3"/>
          <a:srcRect/>
          <a:stretch>
            <a:fillRect/>
          </a:stretch>
        </p:blipFill>
        <p:spPr bwMode="auto">
          <a:xfrm>
            <a:off x="5912964" y="2595833"/>
            <a:ext cx="5769605" cy="3882788"/>
          </a:xfrm>
          <a:prstGeom prst="rect">
            <a:avLst/>
          </a:prstGeom>
          <a:noFill/>
          <a:ln w="9525">
            <a:noFill/>
            <a:miter lim="800000"/>
            <a:headEnd/>
            <a:tailEnd/>
          </a:ln>
          <a:effectLst/>
        </p:spPr>
      </p:pic>
    </p:spTree>
    <p:extLst>
      <p:ext uri="{BB962C8B-B14F-4D97-AF65-F5344CB8AC3E}">
        <p14:creationId xmlns:p14="http://schemas.microsoft.com/office/powerpoint/2010/main" val="2653990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882</Words>
  <Application>Microsoft Office PowerPoint</Application>
  <PresentationFormat>Widescreen</PresentationFormat>
  <Paragraphs>137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Agency FB</vt:lpstr>
      <vt:lpstr>-apple-system-body</vt:lpstr>
      <vt:lpstr>Arial</vt:lpstr>
      <vt:lpstr>Calibri</vt:lpstr>
      <vt:lpstr>Calibri Light</vt:lpstr>
      <vt:lpstr>Office Theme</vt:lpstr>
      <vt:lpstr>PowerPoint Presentation</vt:lpstr>
      <vt:lpstr>MISSION</vt:lpstr>
      <vt:lpstr>Dr. Ritu Agarwal is a Gynaecologist, Obstetrician and Laparoscopic surgeon and infertility specialist.  </vt:lpstr>
      <vt:lpstr>PowerPoint Presentation</vt:lpstr>
      <vt:lpstr>About Dr. Ritu Agrawal Renowned Obstetrician &amp; Gynaecologist in Ghatkopar, Mumbai </vt:lpstr>
      <vt:lpstr>Areas of Expertise </vt:lpstr>
      <vt:lpstr>PowerPoint Presentation</vt:lpstr>
      <vt:lpstr>PowerPoint Presentation</vt:lpstr>
      <vt:lpstr>Laparoscopy &amp; Keyhole Surgery </vt:lpstr>
      <vt:lpstr>ANTENATAL   SCREENING AND  COUSELLING</vt:lpstr>
      <vt:lpstr>Hospital Facilities &amp; Services </vt:lpstr>
      <vt:lpstr>Ultrasound in Obstetrics &amp; Gynaecology </vt:lpstr>
      <vt:lpstr>Cancer Screening </vt:lpstr>
      <vt:lpstr>Infertility Treatment </vt:lpstr>
      <vt:lpstr>Adolescent Gynaecology </vt:lpstr>
      <vt:lpstr>Preconception &amp; Sexual Health Counselling </vt:lpstr>
      <vt:lpstr>Menopausal Clinic </vt:lpstr>
      <vt:lpstr>Our Services </vt:lpstr>
      <vt:lpstr>We Treat ---  </vt:lpstr>
      <vt:lpstr>Diet during pregnancy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28</cp:revision>
  <dcterms:created xsi:type="dcterms:W3CDTF">2026-08-20T09:58:14Z</dcterms:created>
  <dcterms:modified xsi:type="dcterms:W3CDTF">2026-08-22T11:40:08Z</dcterms:modified>
</cp:coreProperties>
</file>